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90DE-2642-E040-8AB7-64A04F0C95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991700-85A3-F6AD-CD38-BFD0D9D98C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DEB70A-044E-0F2B-BD70-49A15F4F2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84BDD-B057-48F2-BA7C-C05660C80FFE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70DA15-071E-AEFB-B9DD-678050940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5462EF-3E57-66B2-6C68-E02C8E7E6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4461D-1015-4457-BF0B-A866EB498C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9537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BA8E2-8718-A88C-CB42-62FA4B482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C1885-8337-4378-CD1B-F29725ABF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DD36E-E94F-5FB9-F67B-59BFD5F08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84BDD-B057-48F2-BA7C-C05660C80FFE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C8C65-33CE-5569-4BC5-7C43E9C8F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6B342-304F-9727-E427-A75B0AEFB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4461D-1015-4457-BF0B-A866EB498C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7368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ABC71-9C87-02BA-A4DD-AC9AD216B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5C88F4-A834-93F0-E013-38247D9DB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65F1A0-27F4-03CE-F285-10F1802C1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84BDD-B057-48F2-BA7C-C05660C80FFE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0B017-9C9C-071E-2DF6-7B84A9B9E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AD20F-705B-F585-CA30-95FA7B0D9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4461D-1015-4457-BF0B-A866EB498C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386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AEA68-BAE0-32D3-49F5-D65FDD65E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8F00E-19D9-0BF2-C343-4EE637F1D1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C323AB-A291-9E93-764A-BFA96DFB25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7C0597-BE63-09BC-C600-D2B318C46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84BDD-B057-48F2-BA7C-C05660C80FFE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564972-8C00-17A8-D049-2CD4FB153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21012F-13BE-FD74-60FD-01695FC74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4461D-1015-4457-BF0B-A866EB498C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205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2F696-0BBA-2367-FF7F-B5B422A8A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07CFF7-3E29-B9FD-EA1B-D2F44EAC29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5E117E-09B9-EA88-DAD3-FB9389D684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F94FDC-A5A9-832B-2715-5FA3A49FF8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801844-9992-608A-03AC-8C47977EB5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AB5DE0-5479-1D73-565F-2397D0D4E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84BDD-B057-48F2-BA7C-C05660C80FFE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035B5A-A9B9-2444-9610-DDB266FB3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3FBECC-1387-B53F-D0AA-B1C6C6568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4461D-1015-4457-BF0B-A866EB498C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3510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E8C7A-EF80-0D0C-E4E9-13D589378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9A0502-8FA3-D4B8-4BBF-0ECBD3A01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84BDD-B057-48F2-BA7C-C05660C80FFE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10125F-BDF6-5F3A-CCB7-3B711B456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D562EF-3C6F-5E94-7BE1-D58E56982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4461D-1015-4457-BF0B-A866EB498C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5360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B1548C-C3CF-3723-52A7-6FE0B026D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84BDD-B057-48F2-BA7C-C05660C80FFE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8AEC11-BCFB-088F-5363-697714547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97D458-0597-AE97-A0DE-8A74C49AD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4461D-1015-4457-BF0B-A866EB498C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8865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9F0DB-8FD2-82CB-AFCB-7E7B75438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11A37-F13D-ECD0-17F6-D90094D30A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406FAE-A22D-740A-6A3F-902CD000A2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2FB83B-F10E-CF78-FFEF-E0B52E376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84BDD-B057-48F2-BA7C-C05660C80FFE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672792-693C-A9C2-D748-75CA71013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14D5E5-C71C-E92C-23E1-04FDD87FA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4461D-1015-4457-BF0B-A866EB498C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7644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DC563-3A3D-D19A-8DD0-8922AB4D6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C0D85F-6494-E71F-D306-80570D1A65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29501D-AFBE-53C5-24DC-698EEF1068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74DF91-B9DE-984B-C292-E09AC110A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84BDD-B057-48F2-BA7C-C05660C80FFE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C49A46-D431-C376-E8A5-D829CE32C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38F0C1-C5DB-FCE3-8BB0-48A494D07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4461D-1015-4457-BF0B-A866EB498C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8021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58912-AE56-EC40-59CB-3395062DF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87FE16-0B3B-72E8-4CA9-0230BEEF4C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AB9E4-897E-5EF0-864F-E20746EE5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84BDD-B057-48F2-BA7C-C05660C80FFE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0B5EAC-C444-50DD-FD67-7881687D2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84F65-1469-C989-478A-0A6F0FD22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4461D-1015-4457-BF0B-A866EB498C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586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96E7D1-3FC0-A580-7AB2-0FAF0E3FA6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615625-BB93-ED1F-429A-E299611FCD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4AA008-DEBD-5E74-866B-FF4990EF3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84BDD-B057-48F2-BA7C-C05660C80FFE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5519D-E01B-B688-FCA3-FDB64BD27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BD39A-ECEA-D1EF-8092-25DBED994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4461D-1015-4457-BF0B-A866EB498C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2386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D01EA2-9F2F-E7A8-689C-83494802D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38F073-7D11-2B10-6669-FC9FE4CB0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F0109B-09A2-1659-06C3-FBCFDC5E55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884BDD-B057-48F2-BA7C-C05660C80FFE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389AF-615B-2544-91F2-9C4562AFAB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4DAA22-F6CD-3B26-91E3-2B9D219506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14461D-1015-4457-BF0B-A866EB498C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70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31284-D931-EE83-0D22-1B6FD9D092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483185"/>
          </a:xfrm>
        </p:spPr>
        <p:txBody>
          <a:bodyPr>
            <a:normAutofit/>
          </a:bodyPr>
          <a:lstStyle/>
          <a:p>
            <a:r>
              <a:rPr lang="en-US" sz="4600" b="1" u="sng" dirty="0"/>
              <a:t>CO-1 Technical Presentation</a:t>
            </a:r>
            <a:endParaRPr lang="en-IN" sz="4600" b="1" u="sn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B113A3-3D24-BD36-E2E8-E84EA4A2A1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933445"/>
            <a:ext cx="9144000" cy="1137110"/>
          </a:xfrm>
        </p:spPr>
        <p:txBody>
          <a:bodyPr/>
          <a:lstStyle/>
          <a:p>
            <a:r>
              <a:rPr lang="en-US" b="1" dirty="0"/>
              <a:t>A Case Study</a:t>
            </a:r>
          </a:p>
          <a:p>
            <a:r>
              <a:rPr lang="en-US" b="1" dirty="0"/>
              <a:t>CSA-0509 Database Management System</a:t>
            </a:r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7C22C4-2769-5CE2-43A1-9783B0576B7F}"/>
              </a:ext>
            </a:extLst>
          </p:cNvPr>
          <p:cNvSpPr txBox="1"/>
          <p:nvPr/>
        </p:nvSpPr>
        <p:spPr>
          <a:xfrm>
            <a:off x="1524000" y="4424516"/>
            <a:ext cx="34511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Presented By</a:t>
            </a:r>
          </a:p>
          <a:p>
            <a:r>
              <a:rPr lang="en-US" dirty="0"/>
              <a:t>Lokesh S (192511037)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A02334-F841-44BD-E4CF-BF9AEFADD487}"/>
              </a:ext>
            </a:extLst>
          </p:cNvPr>
          <p:cNvSpPr txBox="1"/>
          <p:nvPr/>
        </p:nvSpPr>
        <p:spPr>
          <a:xfrm>
            <a:off x="7644581" y="4424516"/>
            <a:ext cx="34511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Guided By</a:t>
            </a:r>
          </a:p>
          <a:p>
            <a:r>
              <a:rPr lang="en-US" dirty="0"/>
              <a:t>Dr .R .Kesavan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89ACCD-BA61-FFD8-BB9C-6C1B75B2BC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992" y="303737"/>
            <a:ext cx="7620016" cy="98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027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41593-C2DF-1354-35AE-731A6D3BF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2026" y="365125"/>
            <a:ext cx="6430297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u="sng" dirty="0"/>
              <a:t>Introduction</a:t>
            </a:r>
            <a:endParaRPr lang="en-IN" sz="3600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75DEE-40BC-A191-213B-758642C4F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2400" b="1" dirty="0"/>
              <a:t>ER (Entity Relationship) Model</a:t>
            </a:r>
            <a:r>
              <a:rPr lang="en-IN" sz="2400" dirty="0"/>
              <a:t> is a conceptual design tool used to represent entities, attributes, and relationships in a database. </a:t>
            </a:r>
          </a:p>
          <a:p>
            <a:r>
              <a:rPr lang="en-IN" sz="2400" b="1" dirty="0"/>
              <a:t>Online Library Management System</a:t>
            </a:r>
            <a:r>
              <a:rPr lang="en-IN" sz="2400" dirty="0"/>
              <a:t> automates book management, member registration, issue/return processes, and fine calculation.</a:t>
            </a:r>
          </a:p>
          <a:p>
            <a:r>
              <a:rPr lang="en-IN" sz="2400" b="1" dirty="0"/>
              <a:t>Entities</a:t>
            </a:r>
            <a:r>
              <a:rPr lang="en-IN" sz="2400" dirty="0"/>
              <a:t> such as Book, Member, Librarian, Loan, Author, and Publisher form the core components of the database. </a:t>
            </a:r>
          </a:p>
          <a:p>
            <a:r>
              <a:rPr lang="en-IN" sz="2400" b="1" dirty="0"/>
              <a:t>Relationships</a:t>
            </a:r>
            <a:r>
              <a:rPr lang="en-IN" sz="2400" dirty="0"/>
              <a:t> define how entities interact, ensuring accurate data organization and efficient database operations. </a:t>
            </a:r>
          </a:p>
          <a:p>
            <a:r>
              <a:rPr lang="en-IN" sz="2400" b="1" dirty="0"/>
              <a:t>ER diagrams</a:t>
            </a:r>
            <a:r>
              <a:rPr lang="en-IN" sz="2400" dirty="0"/>
              <a:t> provide a clear blueprint for database development, reducing redundancy and improving data consistency.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854FAB-AA48-5A36-CE7B-32C55C8F81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5125"/>
            <a:ext cx="727662" cy="9576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91A974-306B-BE49-045C-8166299790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0056" y="365125"/>
            <a:ext cx="943744" cy="94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12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856D5-9DF4-5207-0922-3FB6C7604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46CA7-6094-10A7-10E5-EE41D8F21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2026" y="365125"/>
            <a:ext cx="6430297" cy="1325563"/>
          </a:xfrm>
        </p:spPr>
        <p:txBody>
          <a:bodyPr>
            <a:normAutofit/>
          </a:bodyPr>
          <a:lstStyle/>
          <a:p>
            <a:pPr algn="ctr"/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 of an Online Library Management System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E7F2A0-3E11-FCEE-9FB1-C0BB2FB8CD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5125"/>
            <a:ext cx="727662" cy="9576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E56DD3-9481-8170-54AF-69CB81EDA2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0056" y="365125"/>
            <a:ext cx="943744" cy="9437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6A6D26D-CD7A-EC12-2FF5-E54ACECFCB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88"/>
          <a:stretch>
            <a:fillRect/>
          </a:stretch>
        </p:blipFill>
        <p:spPr>
          <a:xfrm>
            <a:off x="1764276" y="1575418"/>
            <a:ext cx="8663448" cy="52334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7CD3881-C748-0529-1011-CCAC952CF539}"/>
              </a:ext>
            </a:extLst>
          </p:cNvPr>
          <p:cNvSpPr/>
          <p:nvPr/>
        </p:nvSpPr>
        <p:spPr>
          <a:xfrm>
            <a:off x="1858297" y="5643717"/>
            <a:ext cx="2005780" cy="1145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5404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4C17A-EA69-A547-77E5-65B888543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9B756-40F4-EB92-3507-7BEC5FA1B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2026" y="365125"/>
            <a:ext cx="6430297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 of the ER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B7158-F0A0-4457-C08E-3441076C08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2200" b="1" dirty="0"/>
              <a:t>Book</a:t>
            </a:r>
            <a:r>
              <a:rPr lang="en-IN" sz="2200" dirty="0"/>
              <a:t> is the primary entity that stores information such as Book ID, Title, ISBN, Edition, Publication Year, and Availability Status. </a:t>
            </a:r>
          </a:p>
          <a:p>
            <a:r>
              <a:rPr lang="en-IN" sz="2200" b="1" dirty="0"/>
              <a:t>Member</a:t>
            </a:r>
            <a:r>
              <a:rPr lang="en-IN" sz="2200" dirty="0"/>
              <a:t> represents registered users who can borrow books. Each member has unique details like Member ID, Name, Email, Phone Number, and Address. </a:t>
            </a:r>
          </a:p>
          <a:p>
            <a:r>
              <a:rPr lang="en-IN" sz="2200" b="1" dirty="0"/>
              <a:t>Loan</a:t>
            </a:r>
            <a:r>
              <a:rPr lang="en-IN" sz="2200" dirty="0"/>
              <a:t> acts as the linking entity between Members and Books, recording Issue Date, Due Date, Return Date, and Fine Amount for each borrowing transaction. </a:t>
            </a:r>
          </a:p>
          <a:p>
            <a:r>
              <a:rPr lang="en-IN" sz="2200" b="1" dirty="0"/>
              <a:t>Author, Publisher, and Category</a:t>
            </a:r>
            <a:r>
              <a:rPr lang="en-IN" sz="2200" dirty="0"/>
              <a:t> are associated with books to organize library resources, making searching, classification, and management more efficient. </a:t>
            </a:r>
          </a:p>
          <a:p>
            <a:r>
              <a:rPr lang="en-IN" sz="2200" b="1" dirty="0"/>
              <a:t>Relationships</a:t>
            </a:r>
            <a:r>
              <a:rPr lang="en-IN" sz="2200" dirty="0"/>
              <a:t> such as </a:t>
            </a:r>
            <a:r>
              <a:rPr lang="en-IN" sz="2200" i="1" dirty="0"/>
              <a:t>Member borrows Book</a:t>
            </a:r>
            <a:r>
              <a:rPr lang="en-IN" sz="2200" dirty="0"/>
              <a:t>, </a:t>
            </a:r>
            <a:r>
              <a:rPr lang="en-IN" sz="2200" i="1" dirty="0"/>
              <a:t>Author writes Book</a:t>
            </a:r>
            <a:r>
              <a:rPr lang="en-IN" sz="2200" dirty="0"/>
              <a:t>, </a:t>
            </a:r>
            <a:r>
              <a:rPr lang="en-IN" sz="2200" i="1" dirty="0"/>
              <a:t>Publisher publishes Book</a:t>
            </a:r>
            <a:r>
              <a:rPr lang="en-IN" sz="2200" dirty="0"/>
              <a:t>, and </a:t>
            </a:r>
            <a:r>
              <a:rPr lang="en-IN" sz="2200" i="1" dirty="0"/>
              <a:t>Book belongs to Category</a:t>
            </a:r>
            <a:r>
              <a:rPr lang="en-IN" sz="2200" dirty="0"/>
              <a:t> ensure data integrity and minimize redundancy in the database.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FD4909-9500-AA1C-824D-41DC839258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5125"/>
            <a:ext cx="727662" cy="9576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E7391D-0936-B54D-F1A8-CC5F5C12A8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0056" y="365125"/>
            <a:ext cx="943744" cy="94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942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AE6B9-8064-A358-D32D-0DDB680CD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3547D-6D2E-873E-2D54-DC17CCE28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2026" y="365125"/>
            <a:ext cx="6430297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32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ntroduction</a:t>
            </a:r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Enhanced Entity Relationship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6FE7B-6B83-FF7D-6530-21C2C347C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5121"/>
            <a:ext cx="10515600" cy="4351338"/>
          </a:xfrm>
        </p:spPr>
        <p:txBody>
          <a:bodyPr>
            <a:noAutofit/>
          </a:bodyPr>
          <a:lstStyle/>
          <a:p>
            <a:r>
              <a:rPr lang="en-IN" sz="2400" b="1" dirty="0"/>
              <a:t>Enhanced Entity-Relationship (EER) Model</a:t>
            </a:r>
            <a:r>
              <a:rPr lang="en-IN" sz="2400" dirty="0"/>
              <a:t> is an extension of the ER model used to represent more complex database structures. </a:t>
            </a:r>
          </a:p>
          <a:p>
            <a:r>
              <a:rPr lang="en-IN" sz="2400" dirty="0"/>
              <a:t>It introduces advanced concepts such as </a:t>
            </a:r>
            <a:r>
              <a:rPr lang="en-IN" sz="2400" b="1" dirty="0"/>
              <a:t>Generalization</a:t>
            </a:r>
            <a:r>
              <a:rPr lang="en-IN" sz="2400" dirty="0"/>
              <a:t>, </a:t>
            </a:r>
            <a:r>
              <a:rPr lang="en-IN" sz="2400" b="1" dirty="0"/>
              <a:t>Specialization</a:t>
            </a:r>
            <a:r>
              <a:rPr lang="en-IN" sz="2400" dirty="0"/>
              <a:t>, and </a:t>
            </a:r>
            <a:r>
              <a:rPr lang="en-IN" sz="2400" b="1" dirty="0"/>
              <a:t>Inheritance</a:t>
            </a:r>
            <a:r>
              <a:rPr lang="en-IN" sz="2400" dirty="0"/>
              <a:t> for better data </a:t>
            </a:r>
            <a:r>
              <a:rPr lang="en-IN" sz="2400" dirty="0" err="1"/>
              <a:t>modeling</a:t>
            </a:r>
            <a:r>
              <a:rPr lang="en-IN" sz="2400" dirty="0"/>
              <a:t>. </a:t>
            </a:r>
          </a:p>
          <a:p>
            <a:r>
              <a:rPr lang="en-IN" sz="2400" b="1" dirty="0"/>
              <a:t>Generalization</a:t>
            </a:r>
            <a:r>
              <a:rPr lang="en-IN" sz="2400" dirty="0"/>
              <a:t> combines similar lower-level entities into a common higher-level entity (superclass). </a:t>
            </a:r>
          </a:p>
          <a:p>
            <a:r>
              <a:rPr lang="en-IN" sz="2400" b="1" dirty="0"/>
              <a:t>Specialization</a:t>
            </a:r>
            <a:r>
              <a:rPr lang="en-IN" sz="2400" dirty="0"/>
              <a:t> divides a general entity into specialized sub-entities based on specific characteristics. </a:t>
            </a:r>
          </a:p>
          <a:p>
            <a:r>
              <a:rPr lang="en-IN" sz="2400" b="1" dirty="0"/>
              <a:t>EER models</a:t>
            </a:r>
            <a:r>
              <a:rPr lang="en-IN" sz="2400" dirty="0"/>
              <a:t> are widely used in systems like universities, hospitals, banking, and enterprise applications to improve database flexibility and scalability.</a:t>
            </a:r>
            <a:endParaRPr lang="en-I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74F8CE-79E6-95FD-19C9-8A16286560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5125"/>
            <a:ext cx="727662" cy="9576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E165F5-8E8D-72A9-133E-AF162655DB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0056" y="365125"/>
            <a:ext cx="943744" cy="94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709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835F4-F8F4-6731-E4C9-EF3774249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7658C-02D5-5C9A-AAD5-7CD2E3539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2026" y="365125"/>
            <a:ext cx="6430297" cy="1325563"/>
          </a:xfrm>
        </p:spPr>
        <p:txBody>
          <a:bodyPr>
            <a:normAutofit/>
          </a:bodyPr>
          <a:lstStyle/>
          <a:p>
            <a:pPr algn="ctr"/>
            <a:r>
              <a:rPr lang="en-IN" sz="3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EER Model for University Management System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F2B36A-CC78-8DAF-A36D-52FCDCC039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5125"/>
            <a:ext cx="727662" cy="9576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08DCEA-5F33-9DD9-4793-26B2C8BE9F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0056" y="365125"/>
            <a:ext cx="943744" cy="94374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0B849DF-EA0D-16A2-9B26-B31ED251CAE2}"/>
              </a:ext>
            </a:extLst>
          </p:cNvPr>
          <p:cNvSpPr/>
          <p:nvPr/>
        </p:nvSpPr>
        <p:spPr>
          <a:xfrm>
            <a:off x="1858297" y="5643717"/>
            <a:ext cx="2005780" cy="1145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39467E-3C64-2A14-5F2C-0415607D2B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66"/>
          <a:stretch>
            <a:fillRect/>
          </a:stretch>
        </p:blipFill>
        <p:spPr>
          <a:xfrm>
            <a:off x="1845158" y="1563330"/>
            <a:ext cx="8364032" cy="5053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103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D6D9D-33B7-F880-AD5F-EC991D755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4E7F5-C41A-0131-6917-8BA4B6C2C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2026" y="365125"/>
            <a:ext cx="6430297" cy="1325563"/>
          </a:xfrm>
        </p:spPr>
        <p:txBody>
          <a:bodyPr>
            <a:normAutofit/>
          </a:bodyPr>
          <a:lstStyle/>
          <a:p>
            <a:pPr algn="ctr"/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 of the EER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B81DC-9456-60B0-9F2D-7283C1E20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5121"/>
            <a:ext cx="10515600" cy="4351338"/>
          </a:xfrm>
        </p:spPr>
        <p:txBody>
          <a:bodyPr>
            <a:noAutofit/>
          </a:bodyPr>
          <a:lstStyle/>
          <a:p>
            <a:r>
              <a:rPr lang="en-IN" sz="2400" b="1" dirty="0"/>
              <a:t>Person</a:t>
            </a:r>
            <a:r>
              <a:rPr lang="en-IN" sz="2400" dirty="0"/>
              <a:t> is the </a:t>
            </a:r>
            <a:r>
              <a:rPr lang="en-IN" sz="2400" b="1" dirty="0"/>
              <a:t>superclass</a:t>
            </a:r>
            <a:r>
              <a:rPr lang="en-IN" sz="2400" dirty="0"/>
              <a:t>, containing common attributes shared by all individuals in the university. </a:t>
            </a:r>
          </a:p>
          <a:p>
            <a:r>
              <a:rPr lang="en-IN" sz="2400" b="1" dirty="0"/>
              <a:t>Student, Faculty, and Staff</a:t>
            </a:r>
            <a:r>
              <a:rPr lang="en-IN" sz="2400" dirty="0"/>
              <a:t> are </a:t>
            </a:r>
            <a:r>
              <a:rPr lang="en-IN" sz="2400" b="1" dirty="0"/>
              <a:t>subclasses</a:t>
            </a:r>
            <a:r>
              <a:rPr lang="en-IN" sz="2400" dirty="0"/>
              <a:t> that inherit the common attributes of </a:t>
            </a:r>
            <a:r>
              <a:rPr lang="en-IN" sz="2400" b="1" dirty="0"/>
              <a:t>Person</a:t>
            </a:r>
            <a:r>
              <a:rPr lang="en-IN" sz="2400" dirty="0"/>
              <a:t> while maintaining their own specific attributes. </a:t>
            </a:r>
          </a:p>
          <a:p>
            <a:r>
              <a:rPr lang="en-IN" sz="2400" b="1" dirty="0"/>
              <a:t>Course</a:t>
            </a:r>
            <a:r>
              <a:rPr lang="en-IN" sz="2400" dirty="0"/>
              <a:t> stores academic information, and </a:t>
            </a:r>
            <a:r>
              <a:rPr lang="en-IN" sz="2400" b="1" dirty="0"/>
              <a:t>Department</a:t>
            </a:r>
            <a:r>
              <a:rPr lang="en-IN" sz="2400" dirty="0"/>
              <a:t> manages courses, faculty, and staff within the university. </a:t>
            </a:r>
          </a:p>
          <a:p>
            <a:r>
              <a:rPr lang="en-IN" sz="2400" b="1" dirty="0"/>
              <a:t>Relationships</a:t>
            </a:r>
            <a:r>
              <a:rPr lang="en-IN" sz="2400" dirty="0"/>
              <a:t> such as </a:t>
            </a:r>
            <a:r>
              <a:rPr lang="en-IN" sz="2400" b="1" dirty="0" err="1"/>
              <a:t>Enrolled_In</a:t>
            </a:r>
            <a:r>
              <a:rPr lang="en-IN" sz="2400" dirty="0"/>
              <a:t>, </a:t>
            </a:r>
            <a:r>
              <a:rPr lang="en-IN" sz="2400" b="1" dirty="0"/>
              <a:t>Teaches</a:t>
            </a:r>
            <a:r>
              <a:rPr lang="en-IN" sz="2400" dirty="0"/>
              <a:t>, </a:t>
            </a:r>
            <a:r>
              <a:rPr lang="en-IN" sz="2400" b="1" dirty="0" err="1"/>
              <a:t>Works_In</a:t>
            </a:r>
            <a:r>
              <a:rPr lang="en-IN" sz="2400" dirty="0"/>
              <a:t>, and </a:t>
            </a:r>
            <a:r>
              <a:rPr lang="en-IN" sz="2400" b="1" dirty="0" err="1"/>
              <a:t>Offered_By</a:t>
            </a:r>
            <a:r>
              <a:rPr lang="en-IN" sz="2400" dirty="0"/>
              <a:t> connect entities and represent real-world university operations. </a:t>
            </a:r>
          </a:p>
          <a:p>
            <a:r>
              <a:rPr lang="en-IN" sz="2400" dirty="0"/>
              <a:t>The </a:t>
            </a:r>
            <a:r>
              <a:rPr lang="en-IN" sz="2400" b="1" dirty="0"/>
              <a:t>EER model</a:t>
            </a:r>
            <a:r>
              <a:rPr lang="en-IN" sz="2400" dirty="0"/>
              <a:t> reduces data redundancy, improves database organization, and provides flexibility for future system expansion.</a:t>
            </a:r>
            <a:endParaRPr lang="en-I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A09B98-6B12-B51F-791F-BA2E73EBAC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5125"/>
            <a:ext cx="727662" cy="9576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F87F6B-41F7-6F18-5039-A07B631952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0056" y="365125"/>
            <a:ext cx="943744" cy="94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458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F47BC-2DA7-539F-3B69-F2B5284FE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AC83C-9C3D-4ED8-5078-21B19358F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2026" y="365125"/>
            <a:ext cx="6430297" cy="1325563"/>
          </a:xfrm>
        </p:spPr>
        <p:txBody>
          <a:bodyPr>
            <a:normAutofit/>
          </a:bodyPr>
          <a:lstStyle/>
          <a:p>
            <a:pPr algn="ctr"/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Independence in DBMS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6E030-E878-5205-2525-98D7FB40A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5121"/>
            <a:ext cx="10515600" cy="4351338"/>
          </a:xfrm>
        </p:spPr>
        <p:txBody>
          <a:bodyPr>
            <a:noAutofit/>
          </a:bodyPr>
          <a:lstStyle/>
          <a:p>
            <a:r>
              <a:rPr lang="en-IN" sz="2400" b="1" dirty="0"/>
              <a:t>Data Independence</a:t>
            </a:r>
            <a:r>
              <a:rPr lang="en-IN" sz="2400" dirty="0"/>
              <a:t> is the ability to modify the database schema without affecting application programs or user access. </a:t>
            </a:r>
          </a:p>
          <a:p>
            <a:r>
              <a:rPr lang="en-IN" sz="2400" b="1" dirty="0"/>
              <a:t>Logical Data Independence</a:t>
            </a:r>
            <a:r>
              <a:rPr lang="en-IN" sz="2400" dirty="0"/>
              <a:t> allows changes to the conceptual schema without affecting external user views. </a:t>
            </a:r>
          </a:p>
          <a:p>
            <a:r>
              <a:rPr lang="en-IN" sz="2400" b="1" dirty="0"/>
              <a:t>Physical Data Independence</a:t>
            </a:r>
            <a:r>
              <a:rPr lang="en-IN" sz="2400" dirty="0"/>
              <a:t> allows changes to the internal storage structure without affecting the conceptual schema. </a:t>
            </a:r>
          </a:p>
          <a:p>
            <a:r>
              <a:rPr lang="en-IN" sz="2400" dirty="0"/>
              <a:t>Data independence is achieved through the </a:t>
            </a:r>
            <a:r>
              <a:rPr lang="en-IN" sz="2400" b="1" dirty="0"/>
              <a:t>Three-Schema Architecture</a:t>
            </a:r>
            <a:r>
              <a:rPr lang="en-IN" sz="2400" dirty="0"/>
              <a:t> consisting of </a:t>
            </a:r>
            <a:r>
              <a:rPr lang="en-IN" sz="2400" b="1" dirty="0"/>
              <a:t>External, Conceptual, and Internal</a:t>
            </a:r>
            <a:r>
              <a:rPr lang="en-IN" sz="2400" dirty="0"/>
              <a:t> levels. </a:t>
            </a:r>
          </a:p>
          <a:p>
            <a:r>
              <a:rPr lang="en-IN" sz="2400" dirty="0"/>
              <a:t>It improves </a:t>
            </a:r>
            <a:r>
              <a:rPr lang="en-IN" sz="2400" b="1" dirty="0"/>
              <a:t>database flexibility, maintainability, scalability, and performance</a:t>
            </a:r>
            <a:r>
              <a:rPr lang="en-IN" sz="2400" dirty="0"/>
              <a:t> while reducing application maintenance.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A9A834-8475-4E12-DAF4-6A944B0D0B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5125"/>
            <a:ext cx="727662" cy="9576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5853E6-2FFA-7CBF-1468-F0778CDAEF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0056" y="365125"/>
            <a:ext cx="943744" cy="94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802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B5948-DE79-C557-FDF7-5B80BE89A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7D819-9026-D75F-F184-2C117A870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2026" y="365125"/>
            <a:ext cx="6430297" cy="1325563"/>
          </a:xfrm>
        </p:spPr>
        <p:txBody>
          <a:bodyPr>
            <a:normAutofit/>
          </a:bodyPr>
          <a:lstStyle/>
          <a:p>
            <a:pPr algn="ctr"/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Data Independence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490B3-69AF-8091-C0E3-3C9601D1A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5121"/>
            <a:ext cx="7371735" cy="4351338"/>
          </a:xfrm>
        </p:spPr>
        <p:txBody>
          <a:bodyPr>
            <a:noAutofit/>
          </a:bodyPr>
          <a:lstStyle/>
          <a:p>
            <a:r>
              <a:rPr lang="en-IN" sz="2200" b="1" dirty="0"/>
              <a:t>Logical Data Independence</a:t>
            </a:r>
            <a:r>
              <a:rPr lang="en-IN" sz="2200" dirty="0"/>
              <a:t> is the ability to modify the </a:t>
            </a:r>
            <a:r>
              <a:rPr lang="en-IN" sz="2200" b="1" dirty="0"/>
              <a:t>conceptual schema</a:t>
            </a:r>
            <a:r>
              <a:rPr lang="en-IN" sz="2200" dirty="0"/>
              <a:t> without affecting external user views or application programs.</a:t>
            </a:r>
          </a:p>
          <a:p>
            <a:r>
              <a:rPr lang="en-IN" sz="2200" dirty="0"/>
              <a:t> It allows changes such as </a:t>
            </a:r>
            <a:r>
              <a:rPr lang="en-IN" sz="2200" b="1" dirty="0"/>
              <a:t>adding, deleting, or modifying attributes, entities, and relationships</a:t>
            </a:r>
            <a:r>
              <a:rPr lang="en-IN" sz="2200" dirty="0"/>
              <a:t> while maintaining application functionality. </a:t>
            </a:r>
          </a:p>
          <a:p>
            <a:r>
              <a:rPr lang="en-IN" sz="2200" dirty="0"/>
              <a:t>It provides flexibility to adapt the database structure to changing business requirements.</a:t>
            </a:r>
          </a:p>
          <a:p>
            <a:r>
              <a:rPr lang="en-IN" sz="2200" dirty="0"/>
              <a:t> Logical Data Independence is </a:t>
            </a:r>
            <a:r>
              <a:rPr lang="en-IN" sz="2200" b="1" dirty="0"/>
              <a:t>more difficult to achieve</a:t>
            </a:r>
            <a:r>
              <a:rPr lang="en-IN" sz="2200" dirty="0"/>
              <a:t> because application programs are closely related to the logical structure. </a:t>
            </a:r>
          </a:p>
          <a:p>
            <a:r>
              <a:rPr lang="en-IN" sz="2200" b="1" dirty="0"/>
              <a:t>Example:</a:t>
            </a:r>
            <a:r>
              <a:rPr lang="en-IN" sz="2200" dirty="0"/>
              <a:t> Adding an </a:t>
            </a:r>
            <a:r>
              <a:rPr lang="en-IN" sz="2200" b="1" dirty="0"/>
              <a:t>Email</a:t>
            </a:r>
            <a:r>
              <a:rPr lang="en-IN" sz="2200" dirty="0"/>
              <a:t> attribute to the </a:t>
            </a:r>
            <a:r>
              <a:rPr lang="en-IN" sz="2200" b="1" dirty="0"/>
              <a:t>Student</a:t>
            </a:r>
            <a:r>
              <a:rPr lang="en-IN" sz="2200" dirty="0"/>
              <a:t> table without changing existing user applications.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C3021A-A45C-8624-72C7-F80423B35E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5125"/>
            <a:ext cx="727662" cy="9576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A6A869-5155-F7CF-2392-77B1B6ACE5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0056" y="365125"/>
            <a:ext cx="943744" cy="9437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F8C91E-DBE8-47EF-C7EC-F8A2576EFA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76" r="10960"/>
          <a:stretch>
            <a:fillRect/>
          </a:stretch>
        </p:blipFill>
        <p:spPr>
          <a:xfrm>
            <a:off x="7846142" y="2520052"/>
            <a:ext cx="4237703" cy="3850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599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0F2F2-4413-7BCD-23A7-CB8192EEC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29966-2C71-1338-D3B8-D9A90C8F9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2026" y="365125"/>
            <a:ext cx="6430297" cy="1325563"/>
          </a:xfrm>
        </p:spPr>
        <p:txBody>
          <a:bodyPr>
            <a:normAutofit/>
          </a:bodyPr>
          <a:lstStyle/>
          <a:p>
            <a:pPr algn="ctr"/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Data Independence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3D0FF-1E36-92BA-0FD3-BF857881B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5121"/>
            <a:ext cx="6526161" cy="4351338"/>
          </a:xfrm>
        </p:spPr>
        <p:txBody>
          <a:bodyPr>
            <a:noAutofit/>
          </a:bodyPr>
          <a:lstStyle/>
          <a:p>
            <a:r>
              <a:rPr lang="en-IN" sz="2000" b="1" dirty="0"/>
              <a:t>Physical Data Independence</a:t>
            </a:r>
            <a:r>
              <a:rPr lang="en-IN" sz="2000" dirty="0"/>
              <a:t> is the ability to modify the </a:t>
            </a:r>
            <a:r>
              <a:rPr lang="en-IN" sz="2000" b="1" dirty="0"/>
              <a:t>internal storage structure</a:t>
            </a:r>
            <a:r>
              <a:rPr lang="en-IN" sz="2000" dirty="0"/>
              <a:t> without affecting the conceptual schema or application programs.</a:t>
            </a:r>
          </a:p>
          <a:p>
            <a:r>
              <a:rPr lang="en-IN" sz="2000" dirty="0"/>
              <a:t> It allows changes in </a:t>
            </a:r>
            <a:r>
              <a:rPr lang="en-IN" sz="2000" b="1" dirty="0"/>
              <a:t>file organization, storage devices, indexing techniques, and access methods</a:t>
            </a:r>
            <a:r>
              <a:rPr lang="en-IN" sz="2000" dirty="0"/>
              <a:t> without altering the logical database design.</a:t>
            </a:r>
          </a:p>
          <a:p>
            <a:r>
              <a:rPr lang="en-IN" sz="2000" dirty="0"/>
              <a:t> Physical Data Independence improves </a:t>
            </a:r>
            <a:r>
              <a:rPr lang="en-IN" sz="2000" b="1" dirty="0"/>
              <a:t>database performance, storage efficiency, and system scalability</a:t>
            </a:r>
            <a:r>
              <a:rPr lang="en-IN" sz="2000" dirty="0"/>
              <a:t>.</a:t>
            </a:r>
          </a:p>
          <a:p>
            <a:r>
              <a:rPr lang="en-IN" sz="2000" dirty="0"/>
              <a:t> It is </a:t>
            </a:r>
            <a:r>
              <a:rPr lang="en-IN" sz="2000" b="1" dirty="0"/>
              <a:t>easier to achieve</a:t>
            </a:r>
            <a:r>
              <a:rPr lang="en-IN" sz="2000" dirty="0"/>
              <a:t> than Logical Data Independence because application programs do not depend on physical storage details.</a:t>
            </a:r>
          </a:p>
          <a:p>
            <a:r>
              <a:rPr lang="en-IN" sz="2000" dirty="0"/>
              <a:t> </a:t>
            </a:r>
            <a:r>
              <a:rPr lang="en-IN" sz="2000" b="1" dirty="0"/>
              <a:t>Example:</a:t>
            </a:r>
            <a:r>
              <a:rPr lang="en-IN" sz="2000" dirty="0"/>
              <a:t> Creating an </a:t>
            </a:r>
            <a:r>
              <a:rPr lang="en-IN" sz="2000" b="1" dirty="0"/>
              <a:t>index</a:t>
            </a:r>
            <a:r>
              <a:rPr lang="en-IN" sz="2000" dirty="0"/>
              <a:t> on the Student table or moving data to a faster storage device without changing the database schema.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2AE0A0-AE11-4E56-7B08-B7888DCD23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5125"/>
            <a:ext cx="727662" cy="9576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913791-E495-CB9A-FDE3-6F4F69EF2B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0056" y="365125"/>
            <a:ext cx="943744" cy="9437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866AEC3-0D1A-B929-56E6-FA0D2403E8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51" t="10753" r="23811" b="14839"/>
          <a:stretch>
            <a:fillRect/>
          </a:stretch>
        </p:blipFill>
        <p:spPr>
          <a:xfrm>
            <a:off x="7656871" y="1479318"/>
            <a:ext cx="3696929" cy="5102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300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66732-6A92-7FB8-873D-A552CB04F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09863-68FD-E972-C400-F56EE6D80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2026" y="365125"/>
            <a:ext cx="6430297" cy="1325563"/>
          </a:xfrm>
        </p:spPr>
        <p:txBody>
          <a:bodyPr>
            <a:normAutofit/>
          </a:bodyPr>
          <a:lstStyle/>
          <a:p>
            <a:pPr algn="ctr"/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DBMS Software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94D04-9FA0-055D-2313-C25FB02D7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5121"/>
            <a:ext cx="6988277" cy="4351338"/>
          </a:xfrm>
        </p:spPr>
        <p:txBody>
          <a:bodyPr>
            <a:no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DBMS Software Components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the internal modules that work together to manage, store, retrieve, and secure data efficiently.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provide an interface between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users, applications, and the database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ensuring smooth data processing.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component performs a specific function such as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processing, storage management, transaction handling, and security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components work together to ensure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consistency, integrity, reliability, and efficient performance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major DBMS software components include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Processor, Storage Manager, Transaction Manager, Authorization &amp; Integrity Manager, and Data Dictionary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3241E1-864F-51BA-68FE-62D3E49686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5125"/>
            <a:ext cx="727662" cy="9576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F90E71-6B3E-0353-13CA-24E22D7D11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0056" y="365125"/>
            <a:ext cx="943744" cy="9437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773FD7-E707-2606-0811-A5F63C222C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795" t="13907" r="2784" b="6810"/>
          <a:stretch>
            <a:fillRect/>
          </a:stretch>
        </p:blipFill>
        <p:spPr>
          <a:xfrm>
            <a:off x="7826477" y="1903394"/>
            <a:ext cx="4139381" cy="425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035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4DB6C-A7B6-0642-858C-3ED8CFFD0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28BBF-F661-58AE-5003-15B8286DC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2026" y="365125"/>
            <a:ext cx="6430297" cy="1325563"/>
          </a:xfrm>
        </p:spPr>
        <p:txBody>
          <a:bodyPr>
            <a:normAutofit/>
          </a:bodyPr>
          <a:lstStyle/>
          <a:p>
            <a:pPr algn="ctr"/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of DBMS Software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1B15D-49FA-81DC-74B8-94AD7AD18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5121"/>
            <a:ext cx="10515600" cy="4351338"/>
          </a:xfrm>
        </p:spPr>
        <p:txBody>
          <a:bodyPr>
            <a:noAutofit/>
          </a:bodyPr>
          <a:lstStyle/>
          <a:p>
            <a:r>
              <a:rPr lang="en-IN" sz="2400" b="1" dirty="0"/>
              <a:t>Query Processor</a:t>
            </a:r>
            <a:r>
              <a:rPr lang="en-IN" sz="2400" dirty="0"/>
              <a:t> – Interprets SQL queries, optimizes execution plans, and retrieves the required data efficiently. </a:t>
            </a:r>
          </a:p>
          <a:p>
            <a:r>
              <a:rPr lang="en-IN" sz="2400" b="1" dirty="0"/>
              <a:t>Storage Manager</a:t>
            </a:r>
            <a:r>
              <a:rPr lang="en-IN" sz="2400" dirty="0"/>
              <a:t> – Manages data files, indexes, buffer memory, and physical storage of the database. </a:t>
            </a:r>
          </a:p>
          <a:p>
            <a:r>
              <a:rPr lang="en-IN" sz="2400" b="1" dirty="0"/>
              <a:t>Transaction Manager</a:t>
            </a:r>
            <a:r>
              <a:rPr lang="en-IN" sz="2400" dirty="0"/>
              <a:t> – Ensures </a:t>
            </a:r>
            <a:r>
              <a:rPr lang="en-IN" sz="2400" b="1" dirty="0"/>
              <a:t>ACID properties</a:t>
            </a:r>
            <a:r>
              <a:rPr lang="en-IN" sz="2400" dirty="0"/>
              <a:t>, concurrency control, and recovery from system failures. </a:t>
            </a:r>
          </a:p>
          <a:p>
            <a:r>
              <a:rPr lang="en-IN" sz="2400" b="1" dirty="0"/>
              <a:t>Authorization &amp; Integrity Manager</a:t>
            </a:r>
            <a:r>
              <a:rPr lang="en-IN" sz="2400" dirty="0"/>
              <a:t> – Controls user access, enforces security policies, and maintains data integrity constraints.</a:t>
            </a:r>
          </a:p>
          <a:p>
            <a:r>
              <a:rPr lang="en-IN" sz="2400" dirty="0"/>
              <a:t> </a:t>
            </a:r>
            <a:r>
              <a:rPr lang="en-IN" sz="2400" b="1" dirty="0"/>
              <a:t>Data Dictionary (Metadata)</a:t>
            </a:r>
            <a:r>
              <a:rPr lang="en-IN" sz="2400" dirty="0"/>
              <a:t> – Stores information about database objects, tables, attributes, relationships, indexes, and user permissions.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3C1B57-3082-03D6-D211-AC4B74E8C6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5125"/>
            <a:ext cx="727662" cy="9576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7D6F6A-5C99-FAD3-B5D4-8794487B41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0056" y="365125"/>
            <a:ext cx="943744" cy="94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9627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9274C-067A-C90D-AEF0-660CA94FC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BF989-96B7-A7C8-BE65-3DA0B734B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2026" y="365125"/>
            <a:ext cx="6430297" cy="1325563"/>
          </a:xfrm>
        </p:spPr>
        <p:txBody>
          <a:bodyPr>
            <a:normAutofit/>
          </a:bodyPr>
          <a:lstStyle/>
          <a:p>
            <a:pPr algn="ctr"/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Entity vs Weak Entity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21790-5DB4-2EDB-87ED-3686D5DE5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3609"/>
            <a:ext cx="6290187" cy="4351338"/>
          </a:xfrm>
        </p:spPr>
        <p:txBody>
          <a:bodyPr>
            <a:noAutofit/>
          </a:bodyPr>
          <a:lstStyle/>
          <a:p>
            <a:r>
              <a:rPr lang="en-IN" sz="2100" dirty="0"/>
              <a:t>An </a:t>
            </a:r>
            <a:r>
              <a:rPr lang="en-IN" sz="2100" b="1" dirty="0"/>
              <a:t>Entity</a:t>
            </a:r>
            <a:r>
              <a:rPr lang="en-IN" sz="2100" dirty="0"/>
              <a:t> represents a real-world object, person, place, or concept stored in a database. </a:t>
            </a:r>
          </a:p>
          <a:p>
            <a:r>
              <a:rPr lang="en-IN" sz="2100" dirty="0"/>
              <a:t>A </a:t>
            </a:r>
            <a:r>
              <a:rPr lang="en-IN" sz="2100" b="1" dirty="0"/>
              <a:t>Strong Entity</a:t>
            </a:r>
            <a:r>
              <a:rPr lang="en-IN" sz="2100" dirty="0"/>
              <a:t> has its own </a:t>
            </a:r>
            <a:r>
              <a:rPr lang="en-IN" sz="2100" b="1" dirty="0"/>
              <a:t>Primary Key</a:t>
            </a:r>
            <a:r>
              <a:rPr lang="en-IN" sz="2100" dirty="0"/>
              <a:t> and can exist independently. </a:t>
            </a:r>
          </a:p>
          <a:p>
            <a:r>
              <a:rPr lang="en-IN" sz="2100" dirty="0"/>
              <a:t>A </a:t>
            </a:r>
            <a:r>
              <a:rPr lang="en-IN" sz="2100" b="1" dirty="0"/>
              <a:t>Weak Entity</a:t>
            </a:r>
            <a:r>
              <a:rPr lang="en-IN" sz="2100" dirty="0"/>
              <a:t> does </a:t>
            </a:r>
            <a:r>
              <a:rPr lang="en-IN" sz="2100" b="1" dirty="0"/>
              <a:t>not have a Primary Key</a:t>
            </a:r>
            <a:r>
              <a:rPr lang="en-IN" sz="2100" dirty="0"/>
              <a:t> of its own and depends on a strong entity for identification. </a:t>
            </a:r>
          </a:p>
          <a:p>
            <a:r>
              <a:rPr lang="en-IN" sz="2100" dirty="0"/>
              <a:t>A weak entity is identified using a </a:t>
            </a:r>
            <a:r>
              <a:rPr lang="en-IN" sz="2100" b="1" dirty="0"/>
              <a:t>Partial Key</a:t>
            </a:r>
            <a:r>
              <a:rPr lang="en-IN" sz="2100" dirty="0"/>
              <a:t> along with the </a:t>
            </a:r>
            <a:r>
              <a:rPr lang="en-IN" sz="2100" b="1" dirty="0"/>
              <a:t>Primary Key of its owner (strong entity)</a:t>
            </a:r>
            <a:r>
              <a:rPr lang="en-IN" sz="2100" dirty="0"/>
              <a:t>. </a:t>
            </a:r>
          </a:p>
          <a:p>
            <a:r>
              <a:rPr lang="en-IN" sz="2100" dirty="0"/>
              <a:t>Strong and weak entities help model </a:t>
            </a:r>
            <a:r>
              <a:rPr lang="en-IN" sz="2100" b="1" dirty="0"/>
              <a:t>real-world relationships</a:t>
            </a:r>
            <a:r>
              <a:rPr lang="en-IN" sz="2100" dirty="0"/>
              <a:t> accurately and improve database design.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0A3042-640C-9813-426D-459180E17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5125"/>
            <a:ext cx="727662" cy="9576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B11F44-A761-40BB-4C84-5D28B20208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0056" y="365125"/>
            <a:ext cx="943744" cy="9437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0ADA005-3798-3D42-397D-3F53D09967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53" b="2079"/>
          <a:stretch>
            <a:fillRect/>
          </a:stretch>
        </p:blipFill>
        <p:spPr>
          <a:xfrm>
            <a:off x="7505120" y="1943609"/>
            <a:ext cx="3733152" cy="3583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1391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8F117-BB29-E22F-BABA-0F3D8CCCB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756C7-B7F6-8854-8221-1D53FEC8D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2026" y="365125"/>
            <a:ext cx="6430297" cy="1325563"/>
          </a:xfrm>
        </p:spPr>
        <p:txBody>
          <a:bodyPr>
            <a:normAutofit/>
          </a:bodyPr>
          <a:lstStyle/>
          <a:p>
            <a:pPr algn="ctr"/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Strong Entity and Weak Entity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8920A4-DC9C-8221-DD5F-5DCC1F2185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5125"/>
            <a:ext cx="727662" cy="9576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019033-9528-AE37-2641-36F78F62BC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0056" y="365125"/>
            <a:ext cx="943744" cy="94374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1AF5009-B784-66AA-DFF4-55B248E9BF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85" b="4229"/>
          <a:stretch>
            <a:fillRect/>
          </a:stretch>
        </p:blipFill>
        <p:spPr>
          <a:xfrm>
            <a:off x="1385734" y="1603875"/>
            <a:ext cx="9420532" cy="5093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264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1AD1B-398D-2F2E-8C38-12CFBE5A7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EA3CC-5441-1F4B-9131-0D23A8E9E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2026" y="365125"/>
            <a:ext cx="6430297" cy="1325563"/>
          </a:xfrm>
        </p:spPr>
        <p:txBody>
          <a:bodyPr>
            <a:normAutofit/>
          </a:bodyPr>
          <a:lstStyle/>
          <a:p>
            <a:pPr algn="ctr"/>
            <a:r>
              <a:rPr lang="en-IN" sz="3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 for the Strong vs Weak Entity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9DAF53-4743-9917-65D8-5A230B9DC3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5125"/>
            <a:ext cx="727662" cy="9576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6284F6-F49E-BFF4-0FF0-028C51AFCD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0056" y="365125"/>
            <a:ext cx="943744" cy="94374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3026554-3387-BFA9-36DE-F9712BE2CC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4" t="23369" r="1349" b="20143"/>
          <a:stretch>
            <a:fillRect/>
          </a:stretch>
        </p:blipFill>
        <p:spPr>
          <a:xfrm>
            <a:off x="838200" y="1838632"/>
            <a:ext cx="10935167" cy="4257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4175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F02314B-D570-9E7F-4AC2-A7A7164B8B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497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1085</Words>
  <Application>Microsoft Office PowerPoint</Application>
  <PresentationFormat>Widescreen</PresentationFormat>
  <Paragraphs>71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Office Theme</vt:lpstr>
      <vt:lpstr>CO-1 Technical Presentation</vt:lpstr>
      <vt:lpstr>Introduction</vt:lpstr>
      <vt:lpstr>ER Diagram of an Online Library Management System</vt:lpstr>
      <vt:lpstr>Explanation of the ER Diagram</vt:lpstr>
      <vt:lpstr>Introduction to Enhanced Entity Relationship</vt:lpstr>
      <vt:lpstr>EER Model for University Management System</vt:lpstr>
      <vt:lpstr>Explanation of the EER Model</vt:lpstr>
      <vt:lpstr>Data Independence in DBMS</vt:lpstr>
      <vt:lpstr>Logical Data Independence</vt:lpstr>
      <vt:lpstr>Physical Data Independence</vt:lpstr>
      <vt:lpstr>Introduction to DBMS Software Components</vt:lpstr>
      <vt:lpstr>Functions of DBMS Software Components</vt:lpstr>
      <vt:lpstr>Strong Entity vs Weak Entity</vt:lpstr>
      <vt:lpstr>Comparison of Strong Entity and Weak Entity</vt:lpstr>
      <vt:lpstr>ER Diagram for the Strong vs Weak Entity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Lokesh .S</dc:creator>
  <cp:lastModifiedBy>Lokesh .S</cp:lastModifiedBy>
  <cp:revision>1</cp:revision>
  <dcterms:created xsi:type="dcterms:W3CDTF">2026-07-24T02:54:56Z</dcterms:created>
  <dcterms:modified xsi:type="dcterms:W3CDTF">2026-07-24T04:01:51Z</dcterms:modified>
</cp:coreProperties>
</file>